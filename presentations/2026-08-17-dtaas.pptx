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B5FA5"/>
                </a:solidFill>
                <a:latin typeface="Arial"/>
              </a:rPr>
              <a:t>DT-as-a-Service
on the RADICAL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A6A7A"/>
                </a:solidFill>
                <a:latin typeface="Arial"/>
              </a:rPr>
              <a:t>What DT-as-a-Service means for NSTX-U  ·  scoping the first use case  ·  August 2026</a:t>
            </a:r>
          </a:p>
          <a:p>
            <a:r>
              <a:rPr sz="1600">
                <a:solidFill>
                  <a:srgbClr val="5A6A7A"/>
                </a:solidFill>
                <a:latin typeface="Arial"/>
              </a:rPr>
              <a:t>RADICAL, Rutgers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663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B3541E"/>
                </a:solidFill>
                <a:latin typeface="Arial"/>
              </a:rPr>
              <a:t>Digital twins as long-running services on DOE HPC.
v1 is implemented and measured.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5FA5"/>
                </a:solidFill>
                <a:latin typeface="Arial"/>
              </a:rPr>
              <a:t>What is a digital twin (here)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11535" cy="203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0B5FA5"/>
                </a:solidFill>
                <a:latin typeface="Arial"/>
              </a:rPr>
              <a:t>▸  </a:t>
            </a:r>
            <a:r>
              <a:rPr sz="1600">
                <a:solidFill>
                  <a:srgbClr val="1A2330"/>
                </a:solidFill>
                <a:latin typeface="Arial"/>
              </a:rPr>
              <a:t>A digital twin is a computational counterpart of a physical system: its models </a:t>
            </a:r>
            <a:r>
              <a:rPr sz="1600" b="1">
                <a:solidFill>
                  <a:srgbClr val="B3541E"/>
                </a:solidFill>
                <a:latin typeface="Arial"/>
              </a:rPr>
              <a:t>keep learning</a:t>
            </a:r>
            <a:r>
              <a:rPr sz="1600">
                <a:solidFill>
                  <a:srgbClr val="1A2330"/>
                </a:solidFill>
                <a:latin typeface="Arial"/>
              </a:rPr>
              <a:t> against reality while </a:t>
            </a:r>
            <a:r>
              <a:rPr sz="1600" b="1">
                <a:solidFill>
                  <a:srgbClr val="B3541E"/>
                </a:solidFill>
                <a:latin typeface="Arial"/>
              </a:rPr>
              <a:t>serving inference</a:t>
            </a:r>
            <a:r>
              <a:rPr sz="1600">
                <a:solidFill>
                  <a:srgbClr val="1A2330"/>
                </a:solidFill>
                <a:latin typeface="Arial"/>
              </a:rPr>
              <a:t>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0B5FA5"/>
                </a:solidFill>
                <a:latin typeface="Arial"/>
              </a:rPr>
              <a:t>▸  </a:t>
            </a:r>
            <a:r>
              <a:rPr sz="1600">
                <a:solidFill>
                  <a:srgbClr val="1A2330"/>
                </a:solidFill>
                <a:latin typeface="Arial"/>
              </a:rPr>
              <a:t>The DT is a </a:t>
            </a:r>
            <a:r>
              <a:rPr sz="1600" b="1">
                <a:solidFill>
                  <a:srgbClr val="0B5FA5"/>
                </a:solidFill>
                <a:latin typeface="Arial"/>
              </a:rPr>
              <a:t>graph of capabilities</a:t>
            </a:r>
            <a:r>
              <a:rPr sz="1600">
                <a:solidFill>
                  <a:srgbClr val="1A2330"/>
                </a:solidFill>
                <a:latin typeface="Arial"/>
              </a:rPr>
              <a:t>: typed input → output contracts (e.g. diagnostics → heat flux), each realized by one or more learned models.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0B5FA5"/>
                </a:solidFill>
                <a:latin typeface="Arial"/>
              </a:rPr>
              <a:t>▸  </a:t>
            </a:r>
            <a:r>
              <a:rPr sz="1600">
                <a:solidFill>
                  <a:srgbClr val="1A2330"/>
                </a:solidFill>
                <a:latin typeface="Arial"/>
              </a:rPr>
              <a:t>Two concurrent loops: </a:t>
            </a:r>
            <a:r>
              <a:rPr sz="1600" b="1">
                <a:solidFill>
                  <a:srgbClr val="0B5FA5"/>
                </a:solidFill>
                <a:latin typeface="Arial"/>
              </a:rPr>
              <a:t>learning</a:t>
            </a:r>
            <a:r>
              <a:rPr sz="1600">
                <a:solidFill>
                  <a:srgbClr val="1A2330"/>
                </a:solidFill>
                <a:latin typeface="Arial"/>
              </a:rPr>
              <a:t> runs until its objective is met and restarts on new data; </a:t>
            </a:r>
            <a:r>
              <a:rPr sz="1600" b="1">
                <a:solidFill>
                  <a:srgbClr val="0B5FA5"/>
                </a:solidFill>
                <a:latin typeface="Arial"/>
              </a:rPr>
              <a:t>inference</a:t>
            </a:r>
            <a:r>
              <a:rPr sz="1600">
                <a:solidFill>
                  <a:srgbClr val="1A2330"/>
                </a:solidFill>
                <a:latin typeface="Arial"/>
              </a:rPr>
              <a:t> runs indefinitely and hot-swaps models as they improve.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0B5FA5"/>
                </a:solidFill>
                <a:latin typeface="Arial"/>
              </a:rPr>
              <a:t>▸  </a:t>
            </a:r>
            <a:r>
              <a:rPr sz="1600">
                <a:solidFill>
                  <a:srgbClr val="1A2330"/>
                </a:solidFill>
                <a:latin typeface="Arial"/>
              </a:rPr>
              <a:t>Event sources drive the DT: sensors, shot data, simulation output, users, timers.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A6A7A"/>
                </a:solidFill>
                <a:latin typeface="Arial"/>
              </a:rPr>
              <a:t>DT-as-a-Service · AmSC · 2026-08-17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  <a:latin typeface="Arial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5FA5"/>
                </a:solidFill>
                <a:latin typeface="Arial"/>
              </a:rPr>
              <a:t>What “as a service” adds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11535" cy="203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0B5FA5"/>
                </a:solidFill>
                <a:latin typeface="Arial"/>
              </a:rPr>
              <a:t>▸  </a:t>
            </a:r>
            <a:r>
              <a:rPr sz="1500">
                <a:solidFill>
                  <a:srgbClr val="1A2330"/>
                </a:solidFill>
                <a:latin typeface="Arial"/>
              </a:rPr>
              <a:t>The DT control plane runs as a plugin on a </a:t>
            </a:r>
            <a:r>
              <a:rPr sz="1500" b="1">
                <a:solidFill>
                  <a:srgbClr val="0B5FA5"/>
                </a:solidFill>
                <a:latin typeface="Arial"/>
              </a:rPr>
              <a:t>persistent ORBIT broker</a:t>
            </a:r>
            <a:r>
              <a:rPr sz="1500">
                <a:solidFill>
                  <a:srgbClr val="1A2330"/>
                </a:solidFill>
                <a:latin typeface="Arial"/>
              </a:rPr>
              <a:t>; the DT runs for months, independent of any login session.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0B5FA5"/>
                </a:solidFill>
                <a:latin typeface="Arial"/>
              </a:rPr>
              <a:t>▸  </a:t>
            </a:r>
            <a:r>
              <a:rPr sz="1500">
                <a:solidFill>
                  <a:srgbClr val="1A2330"/>
                </a:solidFill>
                <a:latin typeface="Arial"/>
              </a:rPr>
              <a:t>Scientists </a:t>
            </a:r>
            <a:r>
              <a:rPr sz="1500" b="1">
                <a:solidFill>
                  <a:srgbClr val="0B5FA5"/>
                </a:solidFill>
                <a:latin typeface="Arial"/>
              </a:rPr>
              <a:t>attach from a laptop</a:t>
            </a:r>
            <a:r>
              <a:rPr sz="1500">
                <a:solidFill>
                  <a:srgbClr val="1A2330"/>
                </a:solidFill>
                <a:latin typeface="Arial"/>
              </a:rPr>
              <a:t>, steer, and detach; the DT keeps running. Reattach later, from anywhere.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0B5FA5"/>
                </a:solidFill>
                <a:latin typeface="Arial"/>
              </a:rPr>
              <a:t>▸  </a:t>
            </a:r>
            <a:r>
              <a:rPr sz="1500">
                <a:solidFill>
                  <a:srgbClr val="1A2330"/>
                </a:solidFill>
                <a:latin typeface="Arial"/>
              </a:rPr>
              <a:t>One broker hosts </a:t>
            </a:r>
            <a:r>
              <a:rPr sz="1500" b="1">
                <a:solidFill>
                  <a:srgbClr val="0B5FA5"/>
                </a:solidFill>
                <a:latin typeface="Arial"/>
              </a:rPr>
              <a:t>multiple sessions</a:t>
            </a:r>
            <a:r>
              <a:rPr sz="1500">
                <a:solidFill>
                  <a:srgbClr val="1A2330"/>
                </a:solidFill>
                <a:latin typeface="Arial"/>
              </a:rPr>
              <a:t> (name spaces); each session holds </a:t>
            </a:r>
            <a:r>
              <a:rPr sz="1500" b="1">
                <a:solidFill>
                  <a:srgbClr val="0B5FA5"/>
                </a:solidFill>
                <a:latin typeface="Arial"/>
              </a:rPr>
              <a:t>multiple DTs</a:t>
            </a:r>
            <a:r>
              <a:rPr sz="1500">
                <a:solidFill>
                  <a:srgbClr val="1A2330"/>
                </a:solidFill>
                <a:latin typeface="Arial"/>
              </a:rPr>
              <a:t>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0B5FA5"/>
                </a:solidFill>
                <a:latin typeface="Arial"/>
              </a:rPr>
              <a:t>▸  </a:t>
            </a:r>
            <a:r>
              <a:rPr sz="1500">
                <a:solidFill>
                  <a:srgbClr val="1A2330"/>
                </a:solidFill>
                <a:latin typeface="Arial"/>
              </a:rPr>
              <a:t>Compute is acquired </a:t>
            </a:r>
            <a:r>
              <a:rPr sz="1500" b="1">
                <a:solidFill>
                  <a:srgbClr val="0B5FA5"/>
                </a:solidFill>
                <a:latin typeface="Arial"/>
              </a:rPr>
              <a:t>on demand</a:t>
            </a:r>
            <a:r>
              <a:rPr sz="1500">
                <a:solidFill>
                  <a:srgbClr val="1A2330"/>
                </a:solidFill>
                <a:latin typeface="Arial"/>
              </a:rPr>
              <a:t>: inference and training tasks run in HPC allocations through the AmSC/RADICAL stack.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0B5FA5"/>
                </a:solidFill>
                <a:latin typeface="Arial"/>
              </a:rPr>
              <a:t>▸  </a:t>
            </a:r>
            <a:r>
              <a:rPr sz="1500">
                <a:solidFill>
                  <a:srgbClr val="1A2330"/>
                </a:solidFill>
                <a:latin typeface="Arial"/>
              </a:rPr>
              <a:t>Instrument streams feed the DT continuously; all connections are </a:t>
            </a:r>
            <a:r>
              <a:rPr sz="1500" b="1">
                <a:solidFill>
                  <a:srgbClr val="B3541E"/>
                </a:solidFill>
                <a:latin typeface="Arial"/>
              </a:rPr>
              <a:t>outbound</a:t>
            </a:r>
            <a:r>
              <a:rPr sz="1500">
                <a:solidFill>
                  <a:srgbClr val="1A2330"/>
                </a:solidFill>
                <a:latin typeface="Arial"/>
              </a:rPr>
              <a:t>, the facility opens no inbound ports.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5FA5"/>
                </a:solidFill>
                <a:latin typeface="Courier New"/>
              </a:rPr>
              <a:t>L5 DT framework</a:t>
            </a:r>
            <a:r>
              <a:rPr sz="1300">
                <a:solidFill>
                  <a:srgbClr val="1A2330"/>
                </a:solidFill>
                <a:latin typeface="Courier New"/>
              </a:rPr>
              <a:t> → L4 ROSE → L3 AsyncFlow → </a:t>
            </a:r>
            <a:r>
              <a:rPr sz="1300" b="1">
                <a:solidFill>
                  <a:srgbClr val="B3541E"/>
                </a:solidFill>
                <a:latin typeface="Courier New"/>
              </a:rPr>
              <a:t>L2.5 ORBIT</a:t>
            </a:r>
            <a:r>
              <a:rPr sz="1300">
                <a:solidFill>
                  <a:srgbClr val="1A2330"/>
                </a:solidFill>
                <a:latin typeface="Courier New"/>
              </a:rPr>
              <a:t> → L2 Rhapsody → L1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A6A7A"/>
                </a:solidFill>
                <a:latin typeface="Arial"/>
              </a:rPr>
              <a:t>DT-as-a-Service · AmSC · 2026-08-17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  <a:latin typeface="Arial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5FA5"/>
                </a:solidFill>
                <a:latin typeface="Arial"/>
              </a:rPr>
              <a:t>Architecture — roles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11535" cy="203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-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10545775" cy="46137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5939656"/>
            <a:ext cx="99971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A6A7A"/>
                </a:solidFill>
                <a:latin typeface="Arial"/>
              </a:rPr>
              <a:t>Four roles: the client steers, instruments feed, the broker hosts the digital twins, endpoints compute. The broker is the only publicly reachable component.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A6A7A"/>
                </a:solidFill>
                <a:latin typeface="Arial"/>
              </a:rPr>
              <a:t>DT-as-a-Service · AmSC · 2026-08-17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  <a:latin typeface="Arial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5FA5"/>
                </a:solidFill>
                <a:latin typeface="Arial"/>
              </a:rPr>
              <a:t>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11535" cy="203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0B5FA5"/>
                </a:solidFill>
                <a:latin typeface="Arial"/>
              </a:rPr>
              <a:t>▸  </a:t>
            </a:r>
            <a:r>
              <a:rPr sz="1600" b="1">
                <a:solidFill>
                  <a:srgbClr val="0B5FA5"/>
                </a:solidFill>
                <a:latin typeface="Arial"/>
              </a:rPr>
              <a:t>DTaaS v1 is implemented</a:t>
            </a:r>
            <a:r>
              <a:rPr sz="1600">
                <a:solidFill>
                  <a:srgbClr val="1A2330"/>
                </a:solidFill>
                <a:latin typeface="Arial"/>
              </a:rPr>
              <a:t> on the RADICAL stack and under review: the ORBIT dt plugin, a streaming learner, and two stream backends.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0B5FA5"/>
                </a:solidFill>
                <a:latin typeface="Arial"/>
              </a:rPr>
              <a:t>▸  </a:t>
            </a:r>
            <a:r>
              <a:rPr sz="1600" b="1">
                <a:solidFill>
                  <a:srgbClr val="0B5FA5"/>
                </a:solidFill>
                <a:latin typeface="Arial"/>
              </a:rPr>
              <a:t>126 tests</a:t>
            </a:r>
            <a:r>
              <a:rPr sz="1600">
                <a:solidFill>
                  <a:srgbClr val="1A2330"/>
                </a:solidFill>
                <a:latin typeface="Arial"/>
              </a:rPr>
              <a:t>, including live-broker integration; demos run end to end and </a:t>
            </a:r>
            <a:r>
              <a:rPr sz="1600" b="1">
                <a:solidFill>
                  <a:srgbClr val="B3541E"/>
                </a:solidFill>
                <a:latin typeface="Arial"/>
              </a:rPr>
              <a:t>calibration converges</a:t>
            </a:r>
            <a:r>
              <a:rPr sz="1600">
                <a:solidFill>
                  <a:srgbClr val="1A2330"/>
                </a:solidFill>
                <a:latin typeface="Arial"/>
              </a:rPr>
              <a:t>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0B5FA5"/>
                </a:solidFill>
                <a:latin typeface="Arial"/>
              </a:rPr>
              <a:t>▸  </a:t>
            </a:r>
            <a:r>
              <a:rPr sz="1600">
                <a:solidFill>
                  <a:srgbClr val="1A2330"/>
                </a:solidFill>
                <a:latin typeface="Arial"/>
              </a:rPr>
              <a:t>Latencies are </a:t>
            </a:r>
            <a:r>
              <a:rPr sz="1600" b="1">
                <a:solidFill>
                  <a:srgbClr val="0B5FA5"/>
                </a:solidFill>
                <a:latin typeface="Arial"/>
              </a:rPr>
              <a:t>measured</a:t>
            </a:r>
            <a:r>
              <a:rPr sz="1600">
                <a:solidFill>
                  <a:srgbClr val="1A2330"/>
                </a:solidFill>
                <a:latin typeface="Arial"/>
              </a:rPr>
              <a:t>: ~20 ms per served prediction, 1–2 ms per stream hop.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0B5FA5"/>
                </a:solidFill>
                <a:latin typeface="Arial"/>
              </a:rPr>
              <a:t>▸  </a:t>
            </a:r>
            <a:r>
              <a:rPr sz="1600">
                <a:solidFill>
                  <a:srgbClr val="1A2330"/>
                </a:solidFill>
                <a:latin typeface="Arial"/>
              </a:rPr>
              <a:t>A live </a:t>
            </a:r>
            <a:r>
              <a:rPr sz="1600" b="1">
                <a:solidFill>
                  <a:srgbClr val="0B5FA5"/>
                </a:solidFill>
                <a:latin typeface="Arial"/>
              </a:rPr>
              <a:t>viz dashboard</a:t>
            </a:r>
            <a:r>
              <a:rPr sz="1600">
                <a:solidFill>
                  <a:srgbClr val="1A2330"/>
                </a:solidFill>
                <a:latin typeface="Arial"/>
              </a:rPr>
              <a:t> shows convergence and activity, with live and replay modes.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39496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A6A7A"/>
                </a:solidFill>
                <a:latin typeface="Arial"/>
              </a:rPr>
              <a:t>Architecture, lifecycle, benchmarks, and the requirements map are in the backup slides.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A6A7A"/>
                </a:solidFill>
                <a:latin typeface="Arial"/>
              </a:rPr>
              <a:t>DT-as-a-Service · AmSC · 2026-08-17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  <a:latin typeface="Arial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5FA5"/>
                </a:solidFill>
                <a:latin typeface="Arial"/>
              </a:rPr>
              <a:t>What this offers NSTX-U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11535" cy="203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0B5FA5"/>
                </a:solidFill>
                <a:latin typeface="Arial"/>
              </a:rPr>
              <a:t>▸  </a:t>
            </a:r>
            <a:r>
              <a:rPr sz="1500">
                <a:solidFill>
                  <a:srgbClr val="1A2330"/>
                </a:solidFill>
                <a:latin typeface="Arial"/>
              </a:rPr>
              <a:t>A surrogate on NSTX-U geometry </a:t>
            </a:r>
            <a:r>
              <a:rPr sz="1500" b="1">
                <a:solidFill>
                  <a:srgbClr val="0B5FA5"/>
                </a:solidFill>
                <a:latin typeface="Arial"/>
              </a:rPr>
              <a:t>has been demonstrated on this stack</a:t>
            </a:r>
            <a:r>
              <a:rPr sz="1500">
                <a:solidFill>
                  <a:srgbClr val="1A2330"/>
                </a:solidFill>
                <a:latin typeface="Arial"/>
              </a:rPr>
              <a:t>: the heat recipe learns the Eich optical heat flux with active learning on Perlmutter.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0B5FA5"/>
                </a:solidFill>
                <a:latin typeface="Arial"/>
              </a:rPr>
              <a:t>▸  </a:t>
            </a:r>
            <a:r>
              <a:rPr sz="1500">
                <a:solidFill>
                  <a:srgbClr val="1A2330"/>
                </a:solidFill>
                <a:latin typeface="Arial"/>
              </a:rPr>
              <a:t>No standing service is required: the compute side is </a:t>
            </a:r>
            <a:r>
              <a:rPr sz="1500" b="1">
                <a:solidFill>
                  <a:srgbClr val="0B5FA5"/>
                </a:solidFill>
                <a:latin typeface="Arial"/>
              </a:rPr>
              <a:t>spawned on demand</a:t>
            </a:r>
            <a:r>
              <a:rPr sz="1500">
                <a:solidFill>
                  <a:srgbClr val="1A2330"/>
                </a:solidFill>
                <a:latin typeface="Arial"/>
              </a:rPr>
              <a:t> into a normal allocation and torn down after the run.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0B5FA5"/>
                </a:solidFill>
                <a:latin typeface="Arial"/>
              </a:rPr>
              <a:t>▸  </a:t>
            </a:r>
            <a:r>
              <a:rPr sz="1500">
                <a:solidFill>
                  <a:srgbClr val="1A2330"/>
                </a:solidFill>
                <a:latin typeface="Arial"/>
              </a:rPr>
              <a:t>Diagnostics become </a:t>
            </a:r>
            <a:r>
              <a:rPr sz="1500" b="1">
                <a:solidFill>
                  <a:srgbClr val="0B5FA5"/>
                </a:solidFill>
                <a:latin typeface="Arial"/>
              </a:rPr>
              <a:t>event sources</a:t>
            </a:r>
            <a:r>
              <a:rPr sz="1500">
                <a:solidFill>
                  <a:srgbClr val="1A2330"/>
                </a:solidFill>
                <a:latin typeface="Arial"/>
              </a:rPr>
              <a:t>: any stream feeds the DT, live or from shot archives.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0B5FA5"/>
                </a:solidFill>
                <a:latin typeface="Arial"/>
              </a:rPr>
              <a:t>▸  </a:t>
            </a:r>
            <a:r>
              <a:rPr sz="1500">
                <a:solidFill>
                  <a:srgbClr val="1A2330"/>
                </a:solidFill>
                <a:latin typeface="Arial"/>
              </a:rPr>
              <a:t>Models </a:t>
            </a:r>
            <a:r>
              <a:rPr sz="1500" b="1">
                <a:solidFill>
                  <a:srgbClr val="0B5FA5"/>
                </a:solidFill>
                <a:latin typeface="Arial"/>
              </a:rPr>
              <a:t>learn between shots</a:t>
            </a:r>
            <a:r>
              <a:rPr sz="1500">
                <a:solidFill>
                  <a:srgbClr val="1A2330"/>
                </a:solidFill>
                <a:latin typeface="Arial"/>
              </a:rPr>
              <a:t> and </a:t>
            </a:r>
            <a:r>
              <a:rPr sz="1500" b="1">
                <a:solidFill>
                  <a:srgbClr val="0B5FA5"/>
                </a:solidFill>
                <a:latin typeface="Arial"/>
              </a:rPr>
              <a:t>serve between and during shots</a:t>
            </a:r>
            <a:r>
              <a:rPr sz="1500">
                <a:solidFill>
                  <a:srgbClr val="1A2330"/>
                </a:solidFill>
                <a:latin typeface="Arial"/>
              </a:rPr>
              <a:t>; they improve continuously as data arrives.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0B5FA5"/>
                </a:solidFill>
                <a:latin typeface="Arial"/>
              </a:rPr>
              <a:t>▸  </a:t>
            </a:r>
            <a:r>
              <a:rPr sz="1500">
                <a:solidFill>
                  <a:srgbClr val="1A2330"/>
                </a:solidFill>
                <a:latin typeface="Arial"/>
              </a:rPr>
              <a:t>Compute runs on DOE HPC; PPPL deploys </a:t>
            </a:r>
            <a:r>
              <a:rPr sz="1500" b="1">
                <a:solidFill>
                  <a:srgbClr val="B3541E"/>
                </a:solidFill>
                <a:latin typeface="Arial"/>
              </a:rPr>
              <a:t>no services</a:t>
            </a:r>
            <a:r>
              <a:rPr sz="1500">
                <a:solidFill>
                  <a:srgbClr val="1A2330"/>
                </a:solidFill>
                <a:latin typeface="Arial"/>
              </a:rPr>
              <a:t> and opens </a:t>
            </a:r>
            <a:r>
              <a:rPr sz="1500" b="1">
                <a:solidFill>
                  <a:srgbClr val="B3541E"/>
                </a:solidFill>
                <a:latin typeface="Arial"/>
              </a:rPr>
              <a:t>no inbound ports</a:t>
            </a:r>
            <a:r>
              <a:rPr sz="1500">
                <a:solidFill>
                  <a:srgbClr val="1A2330"/>
                </a:solidFill>
                <a:latin typeface="Arial"/>
              </a:rPr>
              <a:t>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0B5FA5"/>
                </a:solidFill>
                <a:latin typeface="Arial"/>
              </a:rPr>
              <a:t>▸  </a:t>
            </a:r>
            <a:r>
              <a:rPr sz="1500">
                <a:solidFill>
                  <a:srgbClr val="1A2330"/>
                </a:solidFill>
                <a:latin typeface="Arial"/>
              </a:rPr>
              <a:t>Every run is tracked (MLflow); results and models stay inspectable.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A6A7A"/>
                </a:solidFill>
                <a:latin typeface="Arial"/>
              </a:rPr>
              <a:t>DT-as-a-Service · AmSC · 2026-08-17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  <a:latin typeface="Arial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5FA5"/>
                </a:solidFill>
                <a:latin typeface="Arial"/>
              </a:rPr>
              <a:t>First use case — a World Model for the NSTX-U DT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11535" cy="203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82009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0B5FA5"/>
                </a:solidFill>
                <a:latin typeface="Arial"/>
              </a:rPr>
              <a:t>▸  </a:t>
            </a:r>
            <a:r>
              <a:rPr sz="1500">
                <a:solidFill>
                  <a:srgbClr val="1A2330"/>
                </a:solidFill>
                <a:latin typeface="Arial"/>
              </a:rPr>
              <a:t>Proposal: scope this together, starting from five questions.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0B5FA5"/>
                </a:solidFill>
                <a:latin typeface="Arial"/>
              </a:rPr>
              <a:t>▸  </a:t>
            </a:r>
            <a:r>
              <a:rPr sz="1500" b="1">
                <a:solidFill>
                  <a:srgbClr val="0B5FA5"/>
                </a:solidFill>
                <a:latin typeface="Arial"/>
              </a:rPr>
              <a:t>Meaning</a:t>
            </a:r>
            <a:r>
              <a:rPr sz="1500">
                <a:solidFill>
                  <a:srgbClr val="1A2330"/>
                </a:solidFill>
                <a:latin typeface="Arial"/>
              </a:rPr>
              <a:t>: is the world model one learned model of the machine state which serves many capabilities, or a graph of per-capability surrogates around a shared state estimate?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0B5FA5"/>
                </a:solidFill>
                <a:latin typeface="Arial"/>
              </a:rPr>
              <a:t>▸  </a:t>
            </a:r>
            <a:r>
              <a:rPr sz="1500" b="1">
                <a:solidFill>
                  <a:srgbClr val="0B5FA5"/>
                </a:solidFill>
                <a:latin typeface="Arial"/>
              </a:rPr>
              <a:t>Signals</a:t>
            </a:r>
            <a:r>
              <a:rPr sz="1500">
                <a:solidFill>
                  <a:srgbClr val="1A2330"/>
                </a:solidFill>
                <a:latin typeface="Arial"/>
              </a:rPr>
              <a:t>: which diagnostics come first, and at what rate?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0B5FA5"/>
                </a:solidFill>
                <a:latin typeface="Arial"/>
              </a:rPr>
              <a:t>▸  </a:t>
            </a:r>
            <a:r>
              <a:rPr sz="1500" b="1">
                <a:solidFill>
                  <a:srgbClr val="0B5FA5"/>
                </a:solidFill>
                <a:latin typeface="Arial"/>
              </a:rPr>
              <a:t>Data</a:t>
            </a:r>
            <a:r>
              <a:rPr sz="1500">
                <a:solidFill>
                  <a:srgbClr val="1A2330"/>
                </a:solidFill>
                <a:latin typeface="Arial"/>
              </a:rPr>
              <a:t>: shot archives, live shots, simulation (XGC, M3DC1), or a mix?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0B5FA5"/>
                </a:solidFill>
                <a:latin typeface="Arial"/>
              </a:rPr>
              <a:t>▸  </a:t>
            </a:r>
            <a:r>
              <a:rPr sz="1500" b="1">
                <a:solidFill>
                  <a:srgbClr val="0B5FA5"/>
                </a:solidFill>
                <a:latin typeface="Arial"/>
              </a:rPr>
              <a:t>Placement and latency</a:t>
            </a:r>
            <a:r>
              <a:rPr sz="1500">
                <a:solidFill>
                  <a:srgbClr val="1A2330"/>
                </a:solidFill>
                <a:latin typeface="Arial"/>
              </a:rPr>
              <a:t>: where does learning run; must serving keep up between shots or within a shot?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0B5FA5"/>
                </a:solidFill>
                <a:latin typeface="Arial"/>
              </a:rPr>
              <a:t>▸  </a:t>
            </a:r>
            <a:r>
              <a:rPr sz="1500" b="1">
                <a:solidFill>
                  <a:srgbClr val="0B5FA5"/>
                </a:solidFill>
                <a:latin typeface="Arial"/>
              </a:rPr>
              <a:t>Success</a:t>
            </a:r>
            <a:r>
              <a:rPr sz="1500">
                <a:solidFill>
                  <a:srgbClr val="1A2330"/>
                </a:solidFill>
                <a:latin typeface="Arial"/>
              </a:rPr>
              <a:t>: what does a first demo have to show?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76072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A6A7A"/>
                </a:solidFill>
                <a:latin typeface="Arial"/>
              </a:rPr>
              <a:t>The framework is use-case independent; these choices configure it and do not change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A6A7A"/>
                </a:solidFill>
                <a:latin typeface="Arial"/>
              </a:rPr>
              <a:t>DT-as-a-Service · AmSC · 2026-08-17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  <a:latin typeface="Arial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5FA5"/>
                </a:solidFill>
                <a:latin typeface="Arial"/>
              </a:rPr>
              <a:t>Discussion ·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11535" cy="203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200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>
                <a:solidFill>
                  <a:srgbClr val="0B5FA5"/>
                </a:solidFill>
                <a:latin typeface="Arial"/>
              </a:rPr>
              <a:t>▸  </a:t>
            </a:r>
            <a:r>
              <a:rPr sz="1700">
                <a:solidFill>
                  <a:srgbClr val="1A2330"/>
                </a:solidFill>
                <a:latin typeface="Arial"/>
              </a:rPr>
              <a:t>Agree on the world-model scope and the first capability.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>
                <a:solidFill>
                  <a:srgbClr val="0B5FA5"/>
                </a:solidFill>
                <a:latin typeface="Arial"/>
              </a:rPr>
              <a:t>▸  </a:t>
            </a:r>
            <a:r>
              <a:rPr sz="1700">
                <a:solidFill>
                  <a:srgbClr val="1A2330"/>
                </a:solidFill>
                <a:latin typeface="Arial"/>
              </a:rPr>
              <a:t>Identify data access: which archives and streams, and who provides them.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>
                <a:solidFill>
                  <a:srgbClr val="0B5FA5"/>
                </a:solidFill>
                <a:latin typeface="Arial"/>
              </a:rPr>
              <a:t>▸  </a:t>
            </a:r>
            <a:r>
              <a:rPr sz="1700">
                <a:solidFill>
                  <a:srgbClr val="1A2330"/>
                </a:solidFill>
                <a:latin typeface="Arial"/>
              </a:rPr>
              <a:t>Pick a first demo target and date; the service stack is ready to host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0624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A6A7A"/>
                </a:solidFill>
                <a:latin typeface="Arial"/>
              </a:rPr>
              <a:t>References: dtaas-v1-plan.md (implementation) · amsc/architecture/dt-framework.md (architecture) · use-cases/heat (NSTX-U heat-flux recipe)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A6A7A"/>
                </a:solidFill>
                <a:latin typeface="Arial"/>
              </a:rPr>
              <a:t>DT-as-a-Service · AmSC · 2026-08-17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  <a:latin typeface="Arial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B5FA5"/>
                </a:solidFill>
                <a:latin typeface="Arial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A6A7A"/>
                </a:solidFill>
                <a:latin typeface="Arial"/>
              </a:rPr>
              <a:t>Architecture detail · lifecycle · data plane · implementation · benchmarks · requirements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5FA5"/>
                </a:solidFill>
                <a:latin typeface="Arial"/>
              </a:rPr>
              <a:t>Architecture — software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11535" cy="203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-soft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439" y="1234440"/>
            <a:ext cx="10338816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6172200"/>
            <a:ext cx="99971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A6A7A"/>
                </a:solidFill>
                <a:latin typeface="Arial"/>
              </a:rPr>
              <a:t>New v1 code is the dt plugin and the hardened L5 runtime; the layers below are reused unchanged.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A6A7A"/>
                </a:solidFill>
                <a:latin typeface="Arial"/>
              </a:rPr>
              <a:t>DT-as-a-Service · AmSC · 2026-08-17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  <a:latin typeface="Arial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5FA5"/>
                </a:solidFill>
                <a:latin typeface="Arial"/>
              </a:rPr>
              <a:t>Lifecycle — DT states and sessions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11535" cy="203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-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10545775" cy="44489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5774878"/>
            <a:ext cx="99971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A6A7A"/>
                </a:solidFill>
                <a:latin typeface="Arial"/>
              </a:rPr>
              <a:t>twin_create is the only asynchronous verb; all other verbs are short and synchronous. Clients attach and detach; the digital twin continues to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A6A7A"/>
                </a:solidFill>
                <a:latin typeface="Arial"/>
              </a:rPr>
              <a:t>DT-as-a-Service · AmSC · 2026-08-17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  <a:latin typeface="Arial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5FA5"/>
                </a:solidFill>
                <a:latin typeface="Arial"/>
              </a:rPr>
              <a:t>Data plane — streams and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11535" cy="203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-data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10545775" cy="44489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5774878"/>
            <a:ext cx="99971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A6A7A"/>
                </a:solidFill>
                <a:latin typeface="Arial"/>
              </a:rPr>
              <a:t>One stream feeds two loops: serving runs on every event, learning on every window; the model update closes the learning cycle.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A6A7A"/>
                </a:solidFill>
                <a:latin typeface="Arial"/>
              </a:rPr>
              <a:t>DT-as-a-Service · AmSC · 2026-08-17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  <a:latin typeface="Arial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5FA5"/>
                </a:solidFill>
                <a:latin typeface="Arial"/>
              </a:rPr>
              <a:t>Implementation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11535" cy="203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80160"/>
          <a:ext cx="1078991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498079"/>
                <a:gridCol w="128016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5A6A7A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5A6A7A"/>
                          </a:solidFill>
                          <a:latin typeface="Arial"/>
                        </a:rPr>
                        <a:t>DELIVERS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5A6A7A"/>
                          </a:solidFill>
                          <a:latin typeface="Arial"/>
                        </a:rPr>
                        <a:t>STATE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5FA5"/>
                          </a:solidFill>
                          <a:latin typeface="Arial"/>
                        </a:rPr>
                        <a:t>M0 hardening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0"/>
                          </a:solidFill>
                          <a:latin typeface="Arial"/>
                        </a:rPr>
                        <a:t>stop/teardown, per-DT topic namespaces, embeddable stream broker, packaging, pytest/tox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7A3E"/>
                          </a:solidFill>
                          <a:latin typeface="Arial"/>
                        </a:rPr>
                        <a:t>PR ready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5FA5"/>
                          </a:solidFill>
                          <a:latin typeface="Arial"/>
                        </a:rPr>
                        <a:t>M1 ORBIT plugin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0"/>
                          </a:solidFill>
                          <a:latin typeface="Arial"/>
                        </a:rPr>
                        <a:t>dt plugin: persistent sessions, sid reattach, async twin_create + short sync verbs, admin listing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7A3E"/>
                          </a:solidFill>
                          <a:latin typeface="Arial"/>
                        </a:rPr>
                        <a:t>PR ready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5FA5"/>
                          </a:solidFill>
                          <a:latin typeface="Arial"/>
                        </a:rPr>
                        <a:t>M2 ROSE ex-situ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0"/>
                          </a:solidFill>
                          <a:latin typeface="Arial"/>
                        </a:rPr>
                        <a:t>StreamingLearnerInvestigator, dual-engine DTs (task | exsitu), endpoint-loss visibility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7A3E"/>
                          </a:solidFill>
                          <a:latin typeface="Arial"/>
                        </a:rPr>
                        <a:t>PR ready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5FA5"/>
                          </a:solidFill>
                          <a:latin typeface="Arial"/>
                        </a:rPr>
                        <a:t>M3 data 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0"/>
                          </a:solidFill>
                          <a:latin typeface="Arial"/>
                        </a:rPr>
                        <a:t>ORBIT-pubsub backend: stream traffic inside the token 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7A3E"/>
                          </a:solidFill>
                          <a:latin typeface="Arial"/>
                        </a:rPr>
                        <a:t>PR ready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566160"/>
            <a:ext cx="108200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0B5FA5"/>
                </a:solidFill>
                <a:latin typeface="Arial"/>
              </a:rPr>
              <a:t>▸  </a:t>
            </a:r>
            <a:r>
              <a:rPr sz="1300" b="1">
                <a:solidFill>
                  <a:srgbClr val="0B5FA5"/>
                </a:solidFill>
                <a:latin typeface="Arial"/>
              </a:rPr>
              <a:t>126 tests</a:t>
            </a:r>
            <a:r>
              <a:rPr sz="1300">
                <a:solidFill>
                  <a:srgbClr val="1A2330"/>
                </a:solidFill>
                <a:latin typeface="Arial"/>
              </a:rPr>
              <a:t>, including live-broker integration. Demos verified with both stream backends: service DT and streaming learner; </a:t>
            </a:r>
            <a:r>
              <a:rPr sz="1300" b="1">
                <a:solidFill>
                  <a:srgbClr val="B3541E"/>
                </a:solidFill>
                <a:latin typeface="Arial"/>
              </a:rPr>
              <a:t>calibration converges</a:t>
            </a:r>
            <a:r>
              <a:rPr sz="1300">
                <a:solidFill>
                  <a:srgbClr val="1A2330"/>
                </a:solidFill>
                <a:latin typeface="Arial"/>
              </a:rPr>
              <a:t>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0B5FA5"/>
                </a:solidFill>
                <a:latin typeface="Arial"/>
              </a:rPr>
              <a:t>▸  </a:t>
            </a:r>
            <a:r>
              <a:rPr sz="1300">
                <a:solidFill>
                  <a:srgbClr val="1A2330"/>
                </a:solidFill>
                <a:latin typeface="Arial"/>
              </a:rPr>
              <a:t>Upstream: two ORBIT PRs </a:t>
            </a:r>
            <a:r>
              <a:rPr sz="1300" b="1">
                <a:solidFill>
                  <a:srgbClr val="0B5FA5"/>
                </a:solidFill>
                <a:latin typeface="Arial"/>
              </a:rPr>
              <a:t>merged</a:t>
            </a:r>
            <a:r>
              <a:rPr sz="1300">
                <a:solidFill>
                  <a:srgbClr val="1A2330"/>
                </a:solidFill>
                <a:latin typeface="Arial"/>
              </a:rPr>
              <a:t>; one AsyncFlow fix + one ROSE dependency in review.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0B5FA5"/>
                </a:solidFill>
                <a:latin typeface="Arial"/>
              </a:rPr>
              <a:t>▸  </a:t>
            </a:r>
            <a:r>
              <a:rPr sz="1300">
                <a:solidFill>
                  <a:srgbClr val="1A2330"/>
                </a:solidFill>
                <a:latin typeface="Arial"/>
              </a:rPr>
              <a:t>Live </a:t>
            </a:r>
            <a:r>
              <a:rPr sz="1300" b="1">
                <a:solidFill>
                  <a:srgbClr val="0B5FA5"/>
                </a:solidFill>
                <a:latin typeface="Arial"/>
              </a:rPr>
              <a:t>viz dashboard</a:t>
            </a:r>
            <a:r>
              <a:rPr sz="1300">
                <a:solidFill>
                  <a:srgbClr val="1A2330"/>
                </a:solidFill>
                <a:latin typeface="Arial"/>
              </a:rPr>
              <a:t>: convergence bars and activity lanes, in the ORBIT Explorer and standalone, with live and replay modes.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A6A7A"/>
                </a:solidFill>
                <a:latin typeface="Arial"/>
              </a:rPr>
              <a:t>DT-as-a-Service · AmSC · 2026-08-17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  <a:latin typeface="Arial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5FA5"/>
                </a:solidFill>
                <a:latin typeface="Arial"/>
              </a:rPr>
              <a:t>Measured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11535" cy="203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71600"/>
          <a:ext cx="107899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89120"/>
                <a:gridCol w="438912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5A6A7A"/>
                          </a:solidFill>
                          <a:latin typeface="Arial"/>
                        </a:rPr>
                        <a:t>MEASUREMENT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5A6A7A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5A6A7A"/>
                          </a:solidFill>
                          <a:latin typeface="Arial"/>
                        </a:rPr>
                        <a:t>DECISION IT SETTLED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5FA5"/>
                          </a:solidFill>
                          <a:latin typeface="Arial"/>
                        </a:rPr>
                        <a:t>in-situ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0"/>
                          </a:solidFill>
                          <a:latin typeface="Arial"/>
                        </a:rPr>
                        <a:t>~20 ms p50 via endpoint vs ~11 ms in-process; endpoint wins under concurrency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0"/>
                          </a:solidFill>
                          <a:latin typeface="Arial"/>
                        </a:rPr>
                        <a:t>all compute goes through Rhapsody, without an in-process pool; a co-located endpoint is the "local" deployment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5FA5"/>
                          </a:solidFill>
                          <a:latin typeface="Arial"/>
                        </a:rPr>
                        <a:t>stream 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0"/>
                          </a:solidFill>
                          <a:latin typeface="Arial"/>
                        </a:rPr>
                        <a:t>0.98 ms ZMQ · 2.09 ms ORBIT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0"/>
                          </a:solidFill>
                          <a:latin typeface="Arial"/>
                        </a:rPr>
                        <a:t>the secure ORBIT data plane costs ~1 ms per hop and becomes the production default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5FA5"/>
                          </a:solidFill>
                          <a:latin typeface="Arial"/>
                        </a:rPr>
                        <a:t>sequential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0"/>
                          </a:solidFill>
                          <a:latin typeface="Arial"/>
                        </a:rPr>
                        <a:t>261 ms → 20 ms after fixing the rhapsody notify batcher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0"/>
                          </a:solidFill>
                          <a:latin typeface="Arial"/>
                        </a:rPr>
                        <a:t>fixed upstream as an endpoint configuration knob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20624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A6A7A"/>
                </a:solidFill>
                <a:latin typeface="Arial"/>
              </a:rPr>
              <a:t>Benchmarks live in the repo (perf/) and rerun against the demos.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A6A7A"/>
                </a:solidFill>
                <a:latin typeface="Arial"/>
              </a:rPr>
              <a:t>DT-as-a-Service · AmSC · 2026-08-17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  <a:latin typeface="Arial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5FA5"/>
                </a:solidFill>
                <a:latin typeface="Arial"/>
              </a:rPr>
              <a:t>Map to use-case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11535" cy="203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8016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694944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5A6A7A"/>
                          </a:solidFill>
                          <a:latin typeface="Arial"/>
                        </a:rPr>
                        <a:t>REQUIREMENT (AMSC · XGFABRIC)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5A6A7A"/>
                          </a:solidFill>
                          <a:latin typeface="Arial"/>
                        </a:rPr>
                        <a:t>DTAAS V1 ANSWER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5FA5"/>
                          </a:solidFill>
                          <a:latin typeface="Arial"/>
                        </a:rPr>
                        <a:t>DT outlives any login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7A3E"/>
                          </a:solidFill>
                          <a:latin typeface="Arial"/>
                        </a:rPr>
                        <a:t>persistent sessions; DTs survive clients, reattach by sid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5FA5"/>
                          </a:solidFill>
                          <a:latin typeface="Arial"/>
                        </a:rPr>
                        <a:t>drive from a 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7A3E"/>
                          </a:solidFill>
                          <a:latin typeface="Arial"/>
                        </a:rPr>
                        <a:t>outbound-only ORBIT connectivity; no HPC login, no public IP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5FA5"/>
                          </a:solidFill>
                          <a:latin typeface="Arial"/>
                        </a:rPr>
                        <a:t>train where the data lives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7A3E"/>
                          </a:solidFill>
                          <a:latin typeface="Arial"/>
                        </a:rPr>
                        <a:t>exsitu engine → Rhapsody endpoint in the HPC allocation (dragon / flux)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5FA5"/>
                          </a:solidFill>
                          <a:latin typeface="Arial"/>
                        </a:rPr>
                        <a:t>continuous sensor streams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7A3E"/>
                          </a:solidFill>
                          <a:latin typeface="Arial"/>
                        </a:rPr>
                        <a:t>stream plane with per-DT namespaces; ZMQ or ORBIT backend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5FA5"/>
                          </a:solidFill>
                          <a:latin typeface="Arial"/>
                        </a:rPr>
                        <a:t>serve inference continuously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7A3E"/>
                          </a:solidFill>
                          <a:latin typeface="Arial"/>
                        </a:rPr>
                        <a:t>in-situ loop on the task endpoint, ~20 ms per prediction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5FA5"/>
                          </a:solidFill>
                          <a:latin typeface="Arial"/>
                        </a:rPr>
                        <a:t>DOE-site security posture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7A3E"/>
                          </a:solidFill>
                          <a:latin typeface="Arial"/>
                        </a:rPr>
                        <a:t>token-gated ingress; M3 puts stream traffic in the same trust domain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5FA5"/>
                          </a:solidFill>
                          <a:latin typeface="Arial"/>
                        </a:rPr>
                        <a:t>many DTs, many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0"/>
                          </a:solidFill>
                          <a:latin typeface="Arial"/>
                        </a:rPr>
                        <a:t>n DTs per session, admin listing; per-tenant auth is v2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5FA5"/>
                          </a:solidFill>
                          <a:latin typeface="Arial"/>
                        </a:rPr>
                        <a:t>model selection · capability graphs · 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0"/>
                          </a:solidFill>
                          <a:latin typeface="Arial"/>
                        </a:rPr>
                        <a:t>v2: cross-model selector, declarative graph spec, restart across broker loss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A6A7A"/>
                </a:solidFill>
                <a:latin typeface="Arial"/>
              </a:rPr>
              <a:t>DT-as-a-Service · AmSC · 2026-08-17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  <a:latin typeface="Arial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